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DM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DMSans-regular.fntdata"/><Relationship Id="rId14" Type="http://schemas.openxmlformats.org/officeDocument/2006/relationships/slide" Target="slides/slide9.xml"/><Relationship Id="rId17" Type="http://schemas.openxmlformats.org/officeDocument/2006/relationships/font" Target="fonts/DMSans-italic.fntdata"/><Relationship Id="rId16" Type="http://schemas.openxmlformats.org/officeDocument/2006/relationships/font" Target="fonts/DM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DM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In a sea of cold, transactional banking apps, Gen Z is looking for something real—something that feels human.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Our strategy is to reposition Feenix not just as a financial institution, but as a brand that gets Gen Z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69056d67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569056d67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While most big banks go national, we try to take advantage of staying local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Feenix can build loyalty by doubling down on its Southwestern roots.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That means storytelling that reflects local pride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569056d6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569056d6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69056d67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69056d67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69056d67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69056d67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69056d67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69056d67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69056d67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569056d67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69056d67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569056d67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To measure success, we focused on metrics tied directly to Gen Z engagement and regional growth.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First, we estimate a </a:t>
            </a:r>
            <a:r>
              <a:rPr b="1" lang="en">
                <a:solidFill>
                  <a:schemeClr val="dk1"/>
                </a:solidFill>
              </a:rPr>
              <a:t>+35% lift in brand awareness</a:t>
            </a:r>
            <a:r>
              <a:rPr lang="en">
                <a:solidFill>
                  <a:schemeClr val="dk1"/>
                </a:solidFill>
              </a:rPr>
              <a:t> across our Southwestern target markets—driven by regional creator content and bilingual marketing.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b="1" lang="en">
                <a:solidFill>
                  <a:schemeClr val="dk1"/>
                </a:solidFill>
              </a:rPr>
              <a:t>App downloads</a:t>
            </a:r>
            <a:r>
              <a:rPr lang="en">
                <a:solidFill>
                  <a:schemeClr val="dk1"/>
                </a:solidFill>
              </a:rPr>
              <a:t> are projected to rise by </a:t>
            </a:r>
            <a:r>
              <a:rPr b="1" lang="en">
                <a:solidFill>
                  <a:schemeClr val="dk1"/>
                </a:solidFill>
              </a:rPr>
              <a:t>25%</a:t>
            </a:r>
            <a:r>
              <a:rPr lang="en">
                <a:solidFill>
                  <a:schemeClr val="dk1"/>
                </a:solidFill>
              </a:rPr>
              <a:t> in those same cities due to localized campaigns and in-app reward incentives.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Most critically, we project </a:t>
            </a:r>
            <a:r>
              <a:rPr b="1" lang="en">
                <a:solidFill>
                  <a:schemeClr val="dk1"/>
                </a:solidFill>
              </a:rPr>
              <a:t>+20% user retention</a:t>
            </a:r>
            <a:r>
              <a:rPr lang="en">
                <a:solidFill>
                  <a:schemeClr val="dk1"/>
                </a:solidFill>
              </a:rPr>
              <a:t> among Gen Z customers who engage with personalized features—custom cards, mascot tools, and financial goal tracking.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These estimates are grounded in outcomes we've seen from comparable fintech and creator-first brands. Feenix isn’t just getting users—it’s keeping them.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1. 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Duolingo’s Gen Z TikTok strategy</a:t>
            </a:r>
            <a:r>
              <a:rPr lang="en">
                <a:solidFill>
                  <a:schemeClr val="dk1"/>
                </a:solidFill>
              </a:rPr>
              <a:t> resulted in a </a:t>
            </a:r>
            <a:r>
              <a:rPr b="1" lang="en">
                <a:solidFill>
                  <a:schemeClr val="dk1"/>
                </a:solidFill>
              </a:rPr>
              <a:t>40% increase in app downloads</a:t>
            </a:r>
            <a:r>
              <a:rPr lang="en">
                <a:solidFill>
                  <a:schemeClr val="dk1"/>
                </a:solidFill>
              </a:rPr>
              <a:t> during its peak viral moment (2022-23) (source: Digiday, TechCrunch).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Cash App's local and influencer-based campaigns</a:t>
            </a:r>
            <a:r>
              <a:rPr lang="en">
                <a:solidFill>
                  <a:schemeClr val="dk1"/>
                </a:solidFill>
              </a:rPr>
              <a:t> saw </a:t>
            </a:r>
            <a:r>
              <a:rPr b="1" lang="en">
                <a:solidFill>
                  <a:schemeClr val="dk1"/>
                </a:solidFill>
              </a:rPr>
              <a:t>30%+ regional user growth</a:t>
            </a:r>
            <a:r>
              <a:rPr lang="en">
                <a:solidFill>
                  <a:schemeClr val="dk1"/>
                </a:solidFill>
              </a:rPr>
              <a:t> when partnering with musicians and creators (Forbes, 2021)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2. 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Chime and Monzo</a:t>
            </a:r>
            <a:r>
              <a:rPr lang="en">
                <a:solidFill>
                  <a:schemeClr val="dk1"/>
                </a:solidFill>
              </a:rPr>
              <a:t>, both neobank disruptors, report </a:t>
            </a:r>
            <a:r>
              <a:rPr b="1" lang="en">
                <a:solidFill>
                  <a:schemeClr val="dk1"/>
                </a:solidFill>
              </a:rPr>
              <a:t>15–30% higher retention</a:t>
            </a:r>
            <a:r>
              <a:rPr lang="en">
                <a:solidFill>
                  <a:schemeClr val="dk1"/>
                </a:solidFill>
              </a:rPr>
              <a:t> among users who engage with customizable tools (e.g. alerts, branded cards) (Monzo Annual Report, 2021; Chime Product Analytics).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According to McKinsey (2020), personalization in financial services can improve customer engagement by </a:t>
            </a:r>
            <a:r>
              <a:rPr b="1" lang="en">
                <a:solidFill>
                  <a:schemeClr val="dk1"/>
                </a:solidFill>
              </a:rPr>
              <a:t>20%+</a:t>
            </a:r>
            <a:r>
              <a:rPr lang="en">
                <a:solidFill>
                  <a:schemeClr val="dk1"/>
                </a:solidFill>
              </a:rPr>
              <a:t>on average.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3.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Venmo’s custom card launch</a:t>
            </a:r>
            <a:r>
              <a:rPr lang="en">
                <a:solidFill>
                  <a:schemeClr val="dk1"/>
                </a:solidFill>
              </a:rPr>
              <a:t> (2020) saw 40,000+ cards requested in the first few weeks (TechCrunch).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Duolingo’s Owl mascot increased </a:t>
            </a:r>
            <a:r>
              <a:rPr b="1" lang="en">
                <a:solidFill>
                  <a:schemeClr val="dk1"/>
                </a:solidFill>
              </a:rPr>
              <a:t>user interaction by 30–40%</a:t>
            </a:r>
            <a:r>
              <a:rPr lang="en">
                <a:solidFill>
                  <a:schemeClr val="dk1"/>
                </a:solidFill>
              </a:rPr>
              <a:t> on posts featuring the character (Sprout Social insights).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569056d67e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569056d67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</a:t>
            </a:r>
            <a:r>
              <a:rPr lang="en"/>
              <a:t>ge Consulting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ChatGPT Image Apr 25, 2025, 07_42_51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24850"/>
            <a:ext cx="9144000" cy="539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Screenshot 2025-04-24 at 2.05.2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8075"/>
            <a:ext cx="9144001" cy="52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7E8F3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Screenshot 2025-04-24 at 9.36.1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0" y="0"/>
            <a:ext cx="853625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6315E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 title="Screenshot 2025-04-24 at 12.51.2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350" y="0"/>
            <a:ext cx="790529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 title="Screenshot 2025-04-25 at 6.51.5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21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8" title="Screenshot 2025-04-24 at 9.42.0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/>
          <p:nvPr/>
        </p:nvSpPr>
        <p:spPr>
          <a:xfrm>
            <a:off x="3031288" y="-1171175"/>
            <a:ext cx="3000000" cy="21345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" name="Google Shape;93;p19"/>
          <p:cNvCxnSpPr/>
          <p:nvPr/>
        </p:nvCxnSpPr>
        <p:spPr>
          <a:xfrm rot="10800000">
            <a:off x="1084975" y="2350"/>
            <a:ext cx="13200" cy="523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" name="Google Shape;94;p19"/>
          <p:cNvCxnSpPr/>
          <p:nvPr/>
        </p:nvCxnSpPr>
        <p:spPr>
          <a:xfrm rot="10800000">
            <a:off x="1084946" y="1017735"/>
            <a:ext cx="8004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19"/>
          <p:cNvCxnSpPr/>
          <p:nvPr/>
        </p:nvCxnSpPr>
        <p:spPr>
          <a:xfrm rot="10800000">
            <a:off x="4515250" y="1072125"/>
            <a:ext cx="32100" cy="4203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" name="Google Shape;96;p19"/>
          <p:cNvCxnSpPr/>
          <p:nvPr/>
        </p:nvCxnSpPr>
        <p:spPr>
          <a:xfrm rot="10800000">
            <a:off x="8059040" y="52"/>
            <a:ext cx="0" cy="2697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19"/>
          <p:cNvSpPr txBox="1"/>
          <p:nvPr/>
        </p:nvSpPr>
        <p:spPr>
          <a:xfrm>
            <a:off x="1664422" y="1476000"/>
            <a:ext cx="2649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Making Feenix Feel Human</a:t>
            </a:r>
            <a:endParaRPr sz="1600"/>
          </a:p>
        </p:txBody>
      </p:sp>
      <p:sp>
        <p:nvSpPr>
          <p:cNvPr id="98" name="Google Shape;98;p19"/>
          <p:cNvSpPr txBox="1"/>
          <p:nvPr/>
        </p:nvSpPr>
        <p:spPr>
          <a:xfrm>
            <a:off x="1192200" y="2048775"/>
            <a:ext cx="3067500" cy="3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Shop Local, Bank Local – 10% off at local businesses when savings goals are hit (estimating tool)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The Feenix College Team – Pop-ups with trivia, card sign-ups, financial literacy classes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Creator Collabs – Gen Z stories, budget hacks, sponsored by Feenix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Create Duolingo inspired mascot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5106467" y="1476000"/>
            <a:ext cx="2649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Celebrating the </a:t>
            </a:r>
            <a:r>
              <a:rPr b="1" lang="en" sz="1600">
                <a:solidFill>
                  <a:schemeClr val="dk1"/>
                </a:solidFill>
              </a:rPr>
              <a:t>Southwest</a:t>
            </a:r>
            <a:r>
              <a:rPr b="1" lang="en" sz="1600">
                <a:solidFill>
                  <a:schemeClr val="dk1"/>
                </a:solidFill>
              </a:rPr>
              <a:t> </a:t>
            </a:r>
            <a:endParaRPr b="1" sz="16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4671075" y="2048775"/>
            <a:ext cx="31230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Regional storytelling: desert palettes, bilingual content, mini documentaries with clients (Dove, Redbull)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Collabs with creators in Phoenix, Tucson, El Paso, Albuquerque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Limited-edition debit cards with Southwestern designs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Phoenix mascot – Symbol of resilience &amp; rebirth (similar to Duolingo’s mascot)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3896400" y="272525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Marketing</a:t>
            </a:r>
            <a:endParaRPr sz="2200"/>
          </a:p>
        </p:txBody>
      </p:sp>
      <p:sp>
        <p:nvSpPr>
          <p:cNvPr id="102" name="Google Shape;102;p19"/>
          <p:cNvSpPr/>
          <p:nvPr/>
        </p:nvSpPr>
        <p:spPr>
          <a:xfrm>
            <a:off x="6325" y="0"/>
            <a:ext cx="1078500" cy="5143500"/>
          </a:xfrm>
          <a:prstGeom prst="rect">
            <a:avLst/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/>
          <p:nvPr/>
        </p:nvSpPr>
        <p:spPr>
          <a:xfrm>
            <a:off x="8059050" y="0"/>
            <a:ext cx="1078500" cy="51435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8108"/>
            </a:gs>
            <a:gs pos="100000">
              <a:srgbClr val="703D0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/>
          <p:nvPr/>
        </p:nvSpPr>
        <p:spPr>
          <a:xfrm>
            <a:off x="1013975" y="714975"/>
            <a:ext cx="3233400" cy="3488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932450" y="1373225"/>
            <a:ext cx="319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+35% Gen Z brand awareness across major Southwestern cities (Phoenix, Tucson, El Paso, Albuquerque)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+25% app downloads in target markets through creator campaigns and regional promotions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+20% user retention among Gen Z customers who opt into personalized features</a:t>
            </a:r>
            <a:endParaRPr sz="1300"/>
          </a:p>
        </p:txBody>
      </p:sp>
      <p:pic>
        <p:nvPicPr>
          <p:cNvPr id="110" name="Google Shape;110;p20" title="ChatGPT Image Apr 23, 2025, 11_13_12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2875" y="715050"/>
            <a:ext cx="2325701" cy="348855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 txBox="1"/>
          <p:nvPr/>
        </p:nvSpPr>
        <p:spPr>
          <a:xfrm>
            <a:off x="1388350" y="94200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We estimate:</a:t>
            </a:r>
            <a:endParaRPr sz="2200"/>
          </a:p>
        </p:txBody>
      </p:sp>
      <p:sp>
        <p:nvSpPr>
          <p:cNvPr id="112" name="Google Shape;112;p20"/>
          <p:cNvSpPr txBox="1"/>
          <p:nvPr/>
        </p:nvSpPr>
        <p:spPr>
          <a:xfrm>
            <a:off x="5909025" y="787450"/>
            <a:ext cx="1929300" cy="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Feenix Mascot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Budget breakdown 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1" title="Screenshot 2025-04-25 at 7.15.4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03200" cy="5200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